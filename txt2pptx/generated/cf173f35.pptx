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645920"/>
            <a:ext cx="54864" cy="347472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182880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4400" b="1" i="0">
                <a:solidFill>
                  <a:srgbClr val="FFFFFF"/>
                </a:solidFill>
                <a:latin typeface="Calibri"/>
              </a:defRPr>
            </a:pPr>
            <a:r>
              <a:t>半導體製程全景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8404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000" b="0" i="0">
                <a:solidFill>
                  <a:srgbClr val="02C39A"/>
                </a:solidFill>
                <a:latin typeface="Calibri Light"/>
              </a:defRPr>
            </a:pPr>
            <a:r>
              <a:t>製造、設計與品質管理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3600" b="1" i="0">
                <a:solidFill>
                  <a:srgbClr val="FFFFFF"/>
                </a:solidFill>
                <a:latin typeface="Calibri"/>
              </a:defRPr>
            </a:pPr>
            <a:r>
              <a:t>1. 製程概覽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0" y="3657600"/>
            <a:ext cx="2133295" cy="36576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900" b="0" i="0">
                <a:solidFill>
                  <a:srgbClr val="64748B"/>
                </a:solidFill>
                <a:latin typeface="Calibri Light"/>
              </a:defRPr>
            </a:pPr>
            <a:r>
              <a:t>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800" b="1" i="0">
                <a:solidFill>
                  <a:srgbClr val="1E293B"/>
                </a:solidFill>
                <a:latin typeface="Calibri"/>
              </a:defRPr>
            </a:pPr>
            <a:r>
              <a:t>製程流程簡介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68580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" y="1828800"/>
            <a:ext cx="182880" cy="18288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63040" y="1554480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 i="0">
                <a:solidFill>
                  <a:srgbClr val="1E293B"/>
                </a:solidFill>
                <a:latin typeface="Calibri Light"/>
              </a:defRPr>
            </a:pPr>
            <a:r>
              <a:t>微影與光罩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514600"/>
            <a:ext cx="68580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05840" y="2880360"/>
            <a:ext cx="182880" cy="18288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63040" y="2606040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 i="0">
                <a:solidFill>
                  <a:srgbClr val="1E293B"/>
                </a:solidFill>
                <a:latin typeface="Calibri Light"/>
              </a:defRPr>
            </a:pPr>
            <a:r>
              <a:t>蝕刻與成膜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566160"/>
            <a:ext cx="68580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05840" y="3931920"/>
            <a:ext cx="182880" cy="18288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63040" y="3657600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 i="0">
                <a:solidFill>
                  <a:srgbClr val="1E293B"/>
                </a:solidFill>
                <a:latin typeface="Calibri Light"/>
              </a:defRPr>
            </a:pPr>
            <a:r>
              <a:t>摻雜與平坦化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4617720"/>
            <a:ext cx="68580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05840" y="4983480"/>
            <a:ext cx="182880" cy="18288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63040" y="4709159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 i="0">
                <a:solidFill>
                  <a:srgbClr val="1E293B"/>
                </a:solidFill>
                <a:latin typeface="Calibri Light"/>
              </a:defRPr>
            </a:pPr>
            <a:r>
              <a:t>晶圓切割與封裝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1463040"/>
            <a:ext cx="3474720" cy="43891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692640" y="3383280"/>
            <a:ext cx="548640" cy="54864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40233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000" b="0" i="0">
                <a:solidFill>
                  <a:srgbClr val="64748B"/>
                </a:solidFill>
                <a:latin typeface="Calibri Light"/>
              </a:defRPr>
            </a:pPr>
            <a:r>
              <a:t>插圖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900" b="0" i="0">
                <a:solidFill>
                  <a:srgbClr val="64748B"/>
                </a:solidFill>
                <a:latin typeface="Calibri Light"/>
              </a:defRPr>
            </a:pPr>
            <a:r>
              <a:t>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800" b="1" i="0">
                <a:solidFill>
                  <a:srgbClr val="1E293B"/>
                </a:solidFill>
                <a:latin typeface="Calibri"/>
              </a:defRPr>
            </a:pP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54864" cy="43891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82880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1" i="0">
                <a:solidFill>
                  <a:srgbClr val="065A82"/>
                </a:solidFill>
                <a:latin typeface="Calibri"/>
              </a:defRPr>
            </a:pPr>
            <a:r>
              <a:t>前段製程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468880"/>
            <a:ext cx="4389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 Light"/>
              </a:defRPr>
              <a:buChar char="●"/>
            </a:pPr>
            <a:r>
              <a:t>光刻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 Light"/>
              </a:defRPr>
              <a:buChar char="●"/>
            </a:pPr>
            <a:r>
              <a:t>蝕刻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 Light"/>
              </a:defRPr>
              <a:buChar char="●"/>
            </a:pPr>
            <a:r>
              <a:t>沉積</a:t>
            </a:r>
          </a:p>
        </p:txBody>
      </p:sp>
      <p:sp>
        <p:nvSpPr>
          <p:cNvPr id="8" name="Rectangle 7"/>
          <p:cNvSpPr/>
          <p:nvPr/>
        </p:nvSpPr>
        <p:spPr>
          <a:xfrm>
            <a:off x="6339535" y="1645920"/>
            <a:ext cx="5120640" cy="4389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39535" y="1645920"/>
            <a:ext cx="54864" cy="43891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05295" y="182880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1" i="0">
                <a:solidFill>
                  <a:srgbClr val="1C7293"/>
                </a:solidFill>
                <a:latin typeface="Calibri"/>
              </a:defRPr>
            </a:pPr>
            <a:r>
              <a:t>後段製程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05295" y="2468880"/>
            <a:ext cx="4389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 Light"/>
              </a:defRPr>
              <a:buChar char="●"/>
            </a:pPr>
            <a:r>
              <a:t>摻雜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 Light"/>
              </a:defRPr>
              <a:buChar char="●"/>
            </a:pPr>
            <a:r>
              <a:t>平坦化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 Light"/>
              </a:defRPr>
              <a:buChar char="●"/>
            </a:pPr>
            <a:r>
              <a:t>封裝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900" b="0" i="0">
                <a:solidFill>
                  <a:srgbClr val="64748B"/>
                </a:solidFill>
                <a:latin typeface="Calibri Light"/>
              </a:defRPr>
            </a:pPr>
            <a:r>
              <a:t>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800" b="1" i="0">
                <a:solidFill>
                  <a:srgbClr val="1E293B"/>
                </a:solidFill>
                <a:latin typeface="Calibri"/>
              </a:defRPr>
            </a:pPr>
            <a:r>
              <a:t>製程節點與產能指標</a:t>
            </a:r>
          </a:p>
        </p:txBody>
      </p:sp>
      <p:sp>
        <p:nvSpPr>
          <p:cNvPr id="4" name="Rectangle 3"/>
          <p:cNvSpPr/>
          <p:nvPr/>
        </p:nvSpPr>
        <p:spPr>
          <a:xfrm>
            <a:off x="1340967" y="2011680"/>
            <a:ext cx="292608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40967" y="2011680"/>
            <a:ext cx="2926080" cy="54864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483967" y="2377440"/>
            <a:ext cx="640080" cy="640080"/>
          </a:xfrm>
          <a:prstGeom prst="ellipse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40967" y="320040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3600" b="1" i="0">
                <a:solidFill>
                  <a:srgbClr val="065A82"/>
                </a:solidFill>
                <a:latin typeface="Calibri"/>
              </a:defRPr>
            </a:pPr>
            <a:r>
              <a:t>14nm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40967" y="420624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300" b="0" i="0">
                <a:solidFill>
                  <a:srgbClr val="64748B"/>
                </a:solidFill>
                <a:latin typeface="Calibri Light"/>
              </a:defRPr>
            </a:pPr>
            <a:r>
              <a:t>製程節點</a:t>
            </a:r>
          </a:p>
        </p:txBody>
      </p:sp>
      <p:sp>
        <p:nvSpPr>
          <p:cNvPr id="9" name="Rectangle 8"/>
          <p:cNvSpPr/>
          <p:nvPr/>
        </p:nvSpPr>
        <p:spPr>
          <a:xfrm>
            <a:off x="4632807" y="2011680"/>
            <a:ext cx="292608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632807" y="2011680"/>
            <a:ext cx="2926080" cy="54864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775807" y="2377440"/>
            <a:ext cx="640080" cy="640080"/>
          </a:xfrm>
          <a:prstGeom prst="ellipse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2807" y="320040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3600" b="1" i="0">
                <a:solidFill>
                  <a:srgbClr val="065A82"/>
                </a:solidFill>
                <a:latin typeface="Calibri"/>
              </a:defRPr>
            </a:pPr>
            <a:r>
              <a:t>70%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2807" y="420624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300" b="0" i="0">
                <a:solidFill>
                  <a:srgbClr val="64748B"/>
                </a:solidFill>
                <a:latin typeface="Calibri Light"/>
              </a:defRPr>
            </a:pPr>
            <a:r>
              <a:t>設備利用率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24647" y="2011680"/>
            <a:ext cx="292608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24647" y="2011680"/>
            <a:ext cx="2926080" cy="54864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067647" y="2377440"/>
            <a:ext cx="640080" cy="640080"/>
          </a:xfrm>
          <a:prstGeom prst="ellipse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24647" y="320040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3600" b="1" i="0">
                <a:solidFill>
                  <a:srgbClr val="065A82"/>
                </a:solidFill>
                <a:latin typeface="Calibri"/>
              </a:defRPr>
            </a:pPr>
            <a:r>
              <a:t>11.5週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24647" y="420624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300" b="0" i="0">
                <a:solidFill>
                  <a:srgbClr val="64748B"/>
                </a:solidFill>
                <a:latin typeface="Calibri Light"/>
              </a:defRPr>
            </a:pPr>
            <a:r>
              <a:t>平均製程週期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900" b="0" i="0">
                <a:solidFill>
                  <a:srgbClr val="64748B"/>
                </a:solidFill>
                <a:latin typeface="Calibri Light"/>
              </a:defRPr>
            </a:pPr>
            <a:r>
              <a:t>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731520"/>
            <a:ext cx="4754880" cy="53035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834640" y="3108960"/>
            <a:ext cx="548640" cy="54864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7490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000" b="0" i="0">
                <a:solidFill>
                  <a:srgbClr val="64748B"/>
                </a:solidFill>
                <a:latin typeface="Calibri Light"/>
              </a:defRPr>
            </a:pPr>
            <a:r>
              <a:t>Cleanroom with a glossy FOUP in a futuristic semiconductor fab, focusing on nitrogen atmosphere and humidity 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0" y="73152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600" b="1" i="0">
                <a:solidFill>
                  <a:srgbClr val="1E293B"/>
                </a:solidFill>
                <a:latin typeface="Calibri"/>
              </a:defRPr>
            </a:pPr>
            <a:r>
              <a:t>FOUP與微環境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0" y="182880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1E293B"/>
                </a:solidFill>
                <a:latin typeface="Calibri Light"/>
              </a:defRPr>
              <a:buChar char="●"/>
            </a:pPr>
            <a:r>
              <a:t>氮氣氛維護氣候</a:t>
            </a:r>
          </a:p>
          <a:p>
            <a:pPr>
              <a:spcAft>
                <a:spcPts val="1000"/>
              </a:spcAft>
              <a:defRPr sz="1400">
                <a:solidFill>
                  <a:srgbClr val="1E293B"/>
                </a:solidFill>
                <a:latin typeface="Calibri Light"/>
              </a:defRPr>
              <a:buChar char="●"/>
            </a:pPr>
            <a:r>
              <a:t>晶圓乾淨傳送</a:t>
            </a:r>
          </a:p>
          <a:p>
            <a:pPr>
              <a:spcAft>
                <a:spcPts val="1000"/>
              </a:spcAft>
              <a:defRPr sz="1400">
                <a:solidFill>
                  <a:srgbClr val="1E293B"/>
                </a:solidFill>
                <a:latin typeface="Calibri Light"/>
              </a:defRPr>
              <a:buChar char="●"/>
            </a:pPr>
            <a:r>
              <a:t>液氮供應量大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900" b="0" i="0">
                <a:solidFill>
                  <a:srgbClr val="64748B"/>
                </a:solidFill>
                <a:latin typeface="Calibri Light"/>
              </a:defRPr>
            </a:pPr>
            <a:r>
              <a:t>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800" b="1" i="0">
                <a:solidFill>
                  <a:srgbClr val="1E293B"/>
                </a:solidFill>
                <a:latin typeface="Calibri"/>
              </a:defRPr>
            </a:pP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4937760" cy="4389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4937760" cy="4572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600" b="1" i="0">
                <a:solidFill>
                  <a:srgbClr val="FFFFFF"/>
                </a:solidFill>
                <a:latin typeface="Calibri"/>
              </a:defRPr>
            </a:pPr>
            <a:r>
              <a:t>自動化等級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377440"/>
            <a:ext cx="4206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 Light"/>
              </a:defRPr>
              <a:buChar char="●"/>
            </a:pPr>
            <a:r>
              <a:t>全自動化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 Light"/>
              </a:defRPr>
              <a:buChar char="●"/>
            </a:pPr>
            <a:r>
              <a:t>機器互聯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 Light"/>
              </a:defRPr>
              <a:buChar char="●"/>
            </a:pPr>
            <a:r>
              <a:t>即時控制</a:t>
            </a:r>
          </a:p>
        </p:txBody>
      </p:sp>
      <p:sp>
        <p:nvSpPr>
          <p:cNvPr id="8" name="Oval 7"/>
          <p:cNvSpPr/>
          <p:nvPr/>
        </p:nvSpPr>
        <p:spPr>
          <a:xfrm>
            <a:off x="5729630" y="3291840"/>
            <a:ext cx="731520" cy="73152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29630" y="338328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400" b="1" i="0">
                <a:solidFill>
                  <a:srgbClr val="FFFFFF"/>
                </a:solidFill>
                <a:latin typeface="Calibri Light"/>
              </a:defRPr>
            </a:pPr>
            <a:r>
              <a:t>VS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22415" y="1645920"/>
            <a:ext cx="4937760" cy="4389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22415" y="1645920"/>
            <a:ext cx="4937760" cy="4572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22415" y="16916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600" b="1" i="0">
                <a:solidFill>
                  <a:srgbClr val="FFFFFF"/>
                </a:solidFill>
                <a:latin typeface="Calibri"/>
              </a:defRPr>
            </a:pPr>
            <a:r>
              <a:t>人工作業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88175" y="2377440"/>
            <a:ext cx="4206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 Light"/>
              </a:defRPr>
              <a:buChar char="●"/>
            </a:pPr>
            <a:r>
              <a:t>手工安裝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 Light"/>
              </a:defRPr>
              <a:buChar char="●"/>
            </a:pPr>
            <a:r>
              <a:t>視覺檢驗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 Light"/>
              </a:defRPr>
              <a:buChar char="●"/>
            </a:pPr>
            <a:r>
              <a:t>質量跟蹤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900" b="0" i="0">
                <a:solidFill>
                  <a:srgbClr val="64748B"/>
                </a:solidFill>
                <a:latin typeface="Calibri Light"/>
              </a:defRPr>
            </a:pPr>
            <a:r>
              <a:t>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3600" b="1" i="0">
                <a:solidFill>
                  <a:srgbClr val="FFFFFF"/>
                </a:solidFill>
                <a:latin typeface="Calibri"/>
              </a:defRPr>
            </a:pPr>
            <a:r>
              <a:t>總結與未來展望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2468880"/>
            <a:ext cx="2133295" cy="36576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0" y="2926080"/>
            <a:ext cx="76196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  <a:latin typeface="Calibri Light"/>
              </a:defRPr>
              <a:buChar char="●"/>
            </a:pPr>
            <a:r>
              <a:t>製程自動化提升產能</a:t>
            </a:r>
          </a:p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  <a:latin typeface="Calibri Light"/>
              </a:defRPr>
              <a:buChar char="●"/>
            </a:pPr>
            <a:r>
              <a:t>微環境關鍵於品質</a:t>
            </a:r>
          </a:p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  <a:latin typeface="Calibri Light"/>
              </a:defRPr>
              <a:buChar char="●"/>
            </a:pPr>
            <a:r>
              <a:t>持續研發驅動前進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626364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400" b="0" i="0">
                <a:solidFill>
                  <a:srgbClr val="CCFBF1"/>
                </a:solidFill>
                <a:latin typeface="Calibri Light"/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