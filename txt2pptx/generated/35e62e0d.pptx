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645920"/>
            <a:ext cx="54864" cy="34747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8288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4400" b="1" i="0">
                <a:solidFill>
                  <a:srgbClr val="FFFFFF"/>
                </a:solidFill>
                <a:latin typeface="Calibri"/>
              </a:defRPr>
            </a:pPr>
            <a:r>
              <a:t>未來趨勢與投資洞察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預測一：AI 任務時間不斷延長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840480"/>
            <a:ext cx="8534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800" b="0" i="0">
                <a:solidFill>
                  <a:srgbClr val="CCFBF1"/>
                </a:solidFill>
                <a:latin typeface="Calibri Light"/>
              </a:defRPr>
            </a:pPr>
            <a:r>
              <a:t>AI 進步帶來更長期、高複雜度任務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657600"/>
            <a:ext cx="2133295" cy="36576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 i="0">
                <a:solidFill>
                  <a:srgbClr val="64748B"/>
                </a:solidFill>
                <a:latin typeface="Calibri Light"/>
              </a:defRPr>
            </a:pPr>
            <a: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4754880" cy="53035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834640" y="3108960"/>
            <a:ext cx="548640" cy="54864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749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 i="0">
                <a:solidFill>
                  <a:srgbClr val="64748B"/>
                </a:solidFill>
                <a:latin typeface="Calibri Light"/>
              </a:defRPr>
            </a:pPr>
            <a:r>
              <a:t>Business professionals analyzing AI-driven workflow progress in a futuristic office environment.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73152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600" b="1" i="0">
                <a:solidFill>
                  <a:srgbClr val="1E293B"/>
                </a:solidFill>
                <a:latin typeface="Calibri"/>
              </a:defRPr>
            </a:pPr>
            <a:r>
              <a:t>AI 推進的產業擴展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 i="0">
                <a:solidFill>
                  <a:srgbClr val="64748B"/>
                </a:solidFill>
                <a:latin typeface="Calibri Light"/>
              </a:defRPr>
            </a:pPr>
            <a: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 i="0">
                <a:solidFill>
                  <a:srgbClr val="1E293B"/>
                </a:solidFill>
                <a:latin typeface="Calibri"/>
              </a:defRPr>
            </a:pP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685800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" y="1810512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554480"/>
            <a:ext cx="59436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AI 已完成長期複雜任務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478024"/>
            <a:ext cx="685800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2825496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2569464"/>
            <a:ext cx="59436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企業 AI 導入從試用到核心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493008"/>
            <a:ext cx="685800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5840" y="3840480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40" y="3584448"/>
            <a:ext cx="59436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成本結構改善,利潤增長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507992"/>
            <a:ext cx="685800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05840" y="4855464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0" y="4599431"/>
            <a:ext cx="59436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AI 跨行業擴展至醫療等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522975"/>
            <a:ext cx="685800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05840" y="5870448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63040" y="5614415"/>
            <a:ext cx="59436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市場需求超過供應,無泡沫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463040"/>
            <a:ext cx="3474720" cy="43891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692640" y="3383280"/>
            <a:ext cx="548640" cy="54864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40233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 i="0">
                <a:solidFill>
                  <a:srgbClr val="64748B"/>
                </a:solidFill>
                <a:latin typeface="Calibri Light"/>
              </a:defRPr>
            </a:pPr>
            <a:r>
              <a:t>插圖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 i="0">
                <a:solidFill>
                  <a:srgbClr val="64748B"/>
                </a:solidFill>
                <a:latin typeface="Calibri Light"/>
              </a:defRPr>
            </a:pPr>
            <a: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預測二：美企進入紅利收割期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840480"/>
            <a:ext cx="8534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800" b="0" i="0">
                <a:solidFill>
                  <a:srgbClr val="CCFBF1"/>
                </a:solidFill>
                <a:latin typeface="Calibri Light"/>
              </a:defRPr>
            </a:pPr>
            <a:r>
              <a:t>投資先投資後收成的產業格局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657600"/>
            <a:ext cx="2133295" cy="36576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 i="0">
                <a:solidFill>
                  <a:srgbClr val="64748B"/>
                </a:solidFill>
                <a:latin typeface="Calibri Light"/>
              </a:defRPr>
            </a:pPr>
            <a: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 i="0">
                <a:solidFill>
                  <a:srgbClr val="1E293B"/>
                </a:solidFill>
                <a:latin typeface="Calibri"/>
              </a:defRPr>
            </a:pP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685800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" y="1810512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554480"/>
            <a:ext cx="59436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美企投資先投資後收成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478024"/>
            <a:ext cx="685800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2825496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2569464"/>
            <a:ext cx="59436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AI 促進生產力與長期增長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493008"/>
            <a:ext cx="685800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5840" y="3840480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40" y="3584448"/>
            <a:ext cx="59436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長期利率高,短期公債優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507992"/>
            <a:ext cx="685800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05840" y="4855464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0" y="4599431"/>
            <a:ext cx="59436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新興市場債券風險較低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522975"/>
            <a:ext cx="685800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05840" y="5870448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63040" y="5614415"/>
            <a:ext cx="59436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投資挑戰在於選擇真正贏家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463040"/>
            <a:ext cx="3474720" cy="43891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692640" y="3383280"/>
            <a:ext cx="548640" cy="54864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40233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 i="0">
                <a:solidFill>
                  <a:srgbClr val="64748B"/>
                </a:solidFill>
                <a:latin typeface="Calibri Light"/>
              </a:defRPr>
            </a:pPr>
            <a:r>
              <a:t>插圖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 i="0">
                <a:solidFill>
                  <a:srgbClr val="64748B"/>
                </a:solidFill>
                <a:latin typeface="Calibri Light"/>
              </a:defRPr>
            </a:pPr>
            <a: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預測三：AI 推動能源與太空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840480"/>
            <a:ext cx="8534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800" b="0" i="0">
                <a:solidFill>
                  <a:srgbClr val="CCFBF1"/>
                </a:solidFill>
                <a:latin typeface="Calibri Light"/>
              </a:defRPr>
            </a:pPr>
            <a:r>
              <a:t>國家實力由技術成就擴張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657600"/>
            <a:ext cx="2133295" cy="36576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 i="0">
                <a:solidFill>
                  <a:srgbClr val="64748B"/>
                </a:solidFill>
                <a:latin typeface="Calibri Light"/>
              </a:defRPr>
            </a:pPr>
            <a: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 i="0">
                <a:solidFill>
                  <a:srgbClr val="1E293B"/>
                </a:solidFill>
                <a:latin typeface="Calibri"/>
              </a:defRPr>
            </a:pP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685800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" y="1810512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554480"/>
            <a:ext cx="59436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AI 推進太空能源製造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478024"/>
            <a:ext cx="685800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2825496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2569464"/>
            <a:ext cx="59436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能源部「創世紀計畫」整合 AI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493008"/>
            <a:ext cx="685800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5840" y="3840480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40" y="3584448"/>
            <a:ext cx="59436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月球任務需自動化導航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507992"/>
            <a:ext cx="685800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05840" y="4855464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0" y="4599431"/>
            <a:ext cx="59436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產業主軸：算力、能源、製造、太空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522975"/>
            <a:ext cx="685800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05840" y="5870448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63040" y="5614415"/>
            <a:ext cx="59436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AI 成本降低帶來盈利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463040"/>
            <a:ext cx="3474720" cy="43891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692640" y="3383280"/>
            <a:ext cx="548640" cy="54864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40233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 i="0">
                <a:solidFill>
                  <a:srgbClr val="64748B"/>
                </a:solidFill>
                <a:latin typeface="Calibri Light"/>
              </a:defRPr>
            </a:pPr>
            <a:r>
              <a:t>插圖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 i="0">
                <a:solidFill>
                  <a:srgbClr val="64748B"/>
                </a:solidFill>
                <a:latin typeface="Calibri Light"/>
              </a:defRPr>
            </a:pPr>
            <a: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預測四：國家安全成為投資核心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840480"/>
            <a:ext cx="8534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800" b="0" i="0">
                <a:solidFill>
                  <a:srgbClr val="CCFBF1"/>
                </a:solidFill>
                <a:latin typeface="Calibri Light"/>
              </a:defRPr>
            </a:pPr>
            <a:r>
              <a:t>美國政策與企業合作深度提升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657600"/>
            <a:ext cx="2133295" cy="36576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 i="0">
                <a:solidFill>
                  <a:srgbClr val="64748B"/>
                </a:solidFill>
                <a:latin typeface="Calibri Light"/>
              </a:defRPr>
            </a:pPr>
            <a: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 i="0">
                <a:solidFill>
                  <a:srgbClr val="1E293B"/>
                </a:solidFill>
                <a:latin typeface="Calibri"/>
              </a:defRPr>
            </a:pP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685800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" y="1810512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554480"/>
            <a:ext cx="59436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政策由市場向國家安全轉變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478024"/>
            <a:ext cx="685800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2825496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2569464"/>
            <a:ext cx="59436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企業與政府合作加深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493008"/>
            <a:ext cx="685800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5840" y="3840480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40" y="3584448"/>
            <a:ext cx="59436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AI 行動計畫鬆綁監管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507992"/>
            <a:ext cx="685800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05840" y="4855464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0" y="4599431"/>
            <a:ext cx="59436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內需導向半導體等受惠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522975"/>
            <a:ext cx="685800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05840" y="5870448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63040" y="5614415"/>
            <a:ext cx="59436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資源分配以國家戰略為主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463040"/>
            <a:ext cx="3474720" cy="43891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692640" y="3383280"/>
            <a:ext cx="548640" cy="54864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40233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 i="0">
                <a:solidFill>
                  <a:srgbClr val="64748B"/>
                </a:solidFill>
                <a:latin typeface="Calibri Light"/>
              </a:defRPr>
            </a:pPr>
            <a:r>
              <a:t>插圖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 i="0">
                <a:solidFill>
                  <a:srgbClr val="64748B"/>
                </a:solidFill>
                <a:latin typeface="Calibri Light"/>
              </a:defRPr>
            </a:pPr>
            <a: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 i="0">
                <a:solidFill>
                  <a:srgbClr val="1E293B"/>
                </a:solidFill>
                <a:latin typeface="Calibri"/>
              </a:defRPr>
            </a:pP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4864" cy="43891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 i="0">
                <a:solidFill>
                  <a:srgbClr val="065A82"/>
                </a:solidFill>
                <a:latin typeface="Calibri"/>
              </a:defRPr>
            </a:pPr>
            <a:r>
              <a:t>歐洲投資機會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 Light"/>
              </a:defRPr>
              <a:buChar char="●"/>
            </a:pPr>
            <a:r>
              <a:t>財政紀律良好國家優先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 Light"/>
              </a:defRPr>
              <a:buChar char="●"/>
            </a:pPr>
            <a:r>
              <a:t>德國荷蘭丹麥具成長潛力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 Light"/>
              </a:defRPr>
              <a:buChar char="●"/>
            </a:pPr>
            <a:r>
              <a:t>低債務比重減少投資風險</a:t>
            </a:r>
          </a:p>
        </p:txBody>
      </p:sp>
      <p:sp>
        <p:nvSpPr>
          <p:cNvPr id="8" name="Rectangle 7"/>
          <p:cNvSpPr/>
          <p:nvPr/>
        </p:nvSpPr>
        <p:spPr>
          <a:xfrm>
            <a:off x="6339535" y="1645920"/>
            <a:ext cx="512064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39535" y="1645920"/>
            <a:ext cx="54864" cy="43891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05295" y="18288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 i="0">
                <a:solidFill>
                  <a:srgbClr val="1C7293"/>
                </a:solidFill>
                <a:latin typeface="Calibri"/>
              </a:defRPr>
            </a:pPr>
            <a:r>
              <a:t>日本政策機會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5295" y="246888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 Light"/>
              </a:defRPr>
              <a:buChar char="●"/>
            </a:pPr>
            <a:r>
              <a:t>日本央行鴿派升息預期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 Light"/>
              </a:defRPr>
              <a:buChar char="●"/>
            </a:pPr>
            <a:r>
              <a:t>出口製造擴張帶來利潤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 Light"/>
              </a:defRPr>
              <a:buChar char="●"/>
            </a:pPr>
            <a:r>
              <a:t>AI 應用提升高階製造競爭力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 i="0">
                <a:solidFill>
                  <a:srgbClr val="64748B"/>
                </a:solidFill>
                <a:latin typeface="Calibri Light"/>
              </a:defRPr>
            </a:pPr>
            <a: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結語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2468880"/>
            <a:ext cx="2133295" cy="36576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2926080"/>
            <a:ext cx="76196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Calibri Light"/>
              </a:defRPr>
              <a:buChar char="●"/>
            </a:pPr>
            <a:r>
              <a:t>AI 持續成長不泡沫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Calibri Light"/>
              </a:defRPr>
              <a:buChar char="●"/>
            </a:pPr>
            <a:r>
              <a:t>資產配置聚焦 AI 驅動產業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Calibri Light"/>
              </a:defRPr>
              <a:buChar char="●"/>
            </a:pPr>
            <a:r>
              <a:t>選擇合適基金是關鍵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Calibri Light"/>
              </a:defRPr>
              <a:buChar char="●"/>
            </a:pPr>
            <a:r>
              <a:t>觀察國家政策導向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Calibri Light"/>
              </a:defRPr>
              <a:buChar char="●"/>
            </a:pPr>
            <a:r>
              <a:t>務必分散風險提升組合彈性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26364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0" i="0">
                <a:solidFill>
                  <a:srgbClr val="CCFBF1"/>
                </a:solidFill>
                <a:latin typeface="Calibri Light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