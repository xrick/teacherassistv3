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1645920"/>
            <a:ext cx="54864" cy="347472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1828800"/>
            <a:ext cx="9144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4400" b="1" i="0">
                <a:solidFill>
                  <a:srgbClr val="FFFFFF"/>
                </a:solidFill>
                <a:latin typeface="Calibri"/>
              </a:defRPr>
            </a:pPr>
            <a:r>
              <a:t>圖論（英語：Graph theory），是組合數學分支，和其...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384048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000" b="0" i="0">
                <a:solidFill>
                  <a:srgbClr val="02C39A"/>
                </a:solidFill>
                <a:latin typeface="Calibri Light"/>
              </a:defRPr>
            </a:pPr>
            <a:r>
              <a:t>自動生成簡報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217920"/>
            <a:ext cx="12191695" cy="64008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圖是圖論的主要研究對象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63040"/>
            <a:ext cx="685800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" y="1828800"/>
            <a:ext cx="182880" cy="182880"/>
          </a:xfrm>
          <a:prstGeom prst="ellipse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1554480"/>
            <a:ext cx="5943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400" b="0" i="0">
                <a:solidFill>
                  <a:srgbClr val="1E293B"/>
                </a:solidFill>
                <a:latin typeface="Calibri Light"/>
              </a:defRPr>
            </a:pPr>
            <a:r>
              <a:t>圖是由若干給定的頂點及連接兩頂點的邊所構成的圖形，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514600"/>
            <a:ext cx="685800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05840" y="2880360"/>
            <a:ext cx="182880" cy="182880"/>
          </a:xfrm>
          <a:prstGeom prst="ellipse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63040" y="2606040"/>
            <a:ext cx="5943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400" b="0" i="0">
                <a:solidFill>
                  <a:srgbClr val="1E293B"/>
                </a:solidFill>
                <a:latin typeface="Calibri Light"/>
              </a:defRPr>
            </a:pPr>
            <a:r>
              <a:t>頂點用於代表事物，連接兩頂點的邊則用於表示兩個事物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0" y="1463040"/>
            <a:ext cx="3474720" cy="438912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692640" y="3383280"/>
            <a:ext cx="548640" cy="54864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402336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  <a:defRPr sz="1000" b="0" i="0">
                <a:solidFill>
                  <a:srgbClr val="64748B"/>
                </a:solidFill>
                <a:latin typeface="Calibri Light"/>
              </a:defRPr>
            </a:pPr>
            <a:r>
              <a:t>professional business concept illustration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2 /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600" b="1" i="0">
                <a:solidFill>
                  <a:srgbClr val="1E293B"/>
                </a:solidFill>
                <a:latin typeface="Calibri"/>
              </a:defRPr>
            </a:pPr>
            <a:r>
              <a:t>圖論起源於著名的柯尼斯堡七橋問題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  <a:latin typeface="Calibri Light"/>
              </a:defRPr>
              <a:buChar char="●"/>
            </a:pPr>
            <a:r>
              <a:t>該問題於1736年被歐拉解決，因此普遍認為歐拉是圖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  <a:latin typeface="Calibri Light"/>
              </a:defRPr>
              <a:buChar char="●"/>
            </a:pPr>
            <a:r>
              <a:t>要點 1</a:t>
            </a:r>
          </a:p>
        </p:txBody>
      </p:sp>
      <p:sp>
        <p:nvSpPr>
          <p:cNvPr id="5" name="Rectangle 4"/>
          <p:cNvSpPr/>
          <p:nvPr/>
        </p:nvSpPr>
        <p:spPr>
          <a:xfrm>
            <a:off x="6705295" y="731520"/>
            <a:ext cx="4754880" cy="530352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808415" y="3108960"/>
            <a:ext cx="548640" cy="54864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05295" y="374904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  <a:defRPr sz="1000" b="0" i="0">
                <a:solidFill>
                  <a:srgbClr val="64748B"/>
                </a:solidFill>
                <a:latin typeface="Calibri Light"/>
              </a:defRPr>
            </a:pPr>
            <a:r>
              <a:t>modern technology workspace photo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3 /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圖論的研究對象相當於一維的單純複形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4864" cy="4389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065A82"/>
                </a:solidFill>
                <a:latin typeface="Calibri"/>
              </a:defRPr>
            </a:pPr>
            <a:r>
              <a:t>方面一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468880"/>
            <a:ext cx="43891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1E293B"/>
                </a:solidFill>
                <a:latin typeface="Calibri Light"/>
              </a:defRPr>
              <a:buChar char="●"/>
            </a:pPr>
            <a:r>
              <a:t>分析要點 A</a:t>
            </a:r>
          </a:p>
          <a:p>
            <a:pPr>
              <a:spcAft>
                <a:spcPts val="600"/>
              </a:spcAft>
              <a:defRPr sz="1300">
                <a:solidFill>
                  <a:srgbClr val="1E293B"/>
                </a:solidFill>
                <a:latin typeface="Calibri Light"/>
              </a:defRPr>
              <a:buChar char="●"/>
            </a:pPr>
            <a:r>
              <a:t>分析要點 B</a:t>
            </a:r>
          </a:p>
        </p:txBody>
      </p:sp>
      <p:sp>
        <p:nvSpPr>
          <p:cNvPr id="8" name="Rectangle 7"/>
          <p:cNvSpPr/>
          <p:nvPr/>
        </p:nvSpPr>
        <p:spPr>
          <a:xfrm>
            <a:off x="6339535" y="1645920"/>
            <a:ext cx="51206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39535" y="1645920"/>
            <a:ext cx="54864" cy="43891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05295" y="18288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 i="0">
                <a:solidFill>
                  <a:srgbClr val="1C7293"/>
                </a:solidFill>
                <a:latin typeface="Calibri"/>
              </a:defRPr>
            </a:pPr>
            <a:r>
              <a:t>方面二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05295" y="2468880"/>
            <a:ext cx="43891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1E293B"/>
                </a:solidFill>
                <a:latin typeface="Calibri Light"/>
              </a:defRPr>
              <a:buChar char="●"/>
            </a:pPr>
            <a:r>
              <a:t>分析要點 C</a:t>
            </a:r>
          </a:p>
          <a:p>
            <a:pPr>
              <a:spcAft>
                <a:spcPts val="600"/>
              </a:spcAft>
              <a:defRPr sz="1300">
                <a:solidFill>
                  <a:srgbClr val="1E293B"/>
                </a:solidFill>
                <a:latin typeface="Calibri Light"/>
              </a:defRPr>
              <a:buChar char="●"/>
            </a:pPr>
            <a:r>
              <a:t>分析要點 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4 /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歷史:</a:t>
            </a:r>
          </a:p>
        </p:txBody>
      </p:sp>
      <p:sp>
        <p:nvSpPr>
          <p:cNvPr id="4" name="Rectangle 3"/>
          <p:cNvSpPr/>
          <p:nvPr/>
        </p:nvSpPr>
        <p:spPr>
          <a:xfrm>
            <a:off x="1340967" y="2011680"/>
            <a:ext cx="2926080" cy="32004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40967" y="2011680"/>
            <a:ext cx="2926080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483967" y="2377440"/>
            <a:ext cx="640080" cy="640080"/>
          </a:xfrm>
          <a:prstGeom prst="ellipse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40967" y="320040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  <a:defRPr sz="3600" b="1" i="0">
                <a:solidFill>
                  <a:srgbClr val="065A82"/>
                </a:solidFill>
                <a:latin typeface="Calibri"/>
              </a:defRPr>
            </a:pPr>
            <a:r>
              <a:t>95%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40967" y="420624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  <a:defRPr sz="1300" b="0" i="0">
                <a:solidFill>
                  <a:srgbClr val="64748B"/>
                </a:solidFill>
                <a:latin typeface="Calibri Light"/>
              </a:defRPr>
            </a:pPr>
            <a:r>
              <a:t>達成率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2011680"/>
            <a:ext cx="2926080" cy="32004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632807" y="2011680"/>
            <a:ext cx="2926080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775807" y="2377440"/>
            <a:ext cx="640080" cy="640080"/>
          </a:xfrm>
          <a:prstGeom prst="ellipse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32807" y="320040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  <a:defRPr sz="3600" b="1" i="0">
                <a:solidFill>
                  <a:srgbClr val="065A82"/>
                </a:solidFill>
                <a:latin typeface="Calibri"/>
              </a:defRPr>
            </a:pPr>
            <a:r>
              <a:t>3x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32807" y="420624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  <a:defRPr sz="1300" b="0" i="0">
                <a:solidFill>
                  <a:srgbClr val="64748B"/>
                </a:solidFill>
                <a:latin typeface="Calibri Light"/>
              </a:defRPr>
            </a:pPr>
            <a:r>
              <a:t>效率提升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24647" y="2011680"/>
            <a:ext cx="2926080" cy="32004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24647" y="2011680"/>
            <a:ext cx="2926080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067647" y="2377440"/>
            <a:ext cx="640080" cy="640080"/>
          </a:xfrm>
          <a:prstGeom prst="ellipse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24647" y="320040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  <a:defRPr sz="3600" b="1" i="0">
                <a:solidFill>
                  <a:srgbClr val="065A82"/>
                </a:solidFill>
                <a:latin typeface="Calibri"/>
              </a:defRPr>
            </a:pPr>
            <a:r>
              <a:t>50+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24647" y="420624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  <a:defRPr sz="1300" b="0" i="0">
                <a:solidFill>
                  <a:srgbClr val="64748B"/>
                </a:solidFill>
                <a:latin typeface="Calibri Light"/>
              </a:defRPr>
            </a:pPr>
            <a:r>
              <a:t>應用場景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5 /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731520"/>
            <a:ext cx="4754880" cy="530352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834640" y="3108960"/>
            <a:ext cx="548640" cy="54864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374904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  <a:defRPr sz="1000" b="0" i="0">
                <a:solidFill>
                  <a:srgbClr val="64748B"/>
                </a:solidFill>
                <a:latin typeface="Calibri Light"/>
              </a:defRPr>
            </a:pPr>
            <a:r>
              <a:t>modern technology workspace photo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35040" y="73152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600" b="1" i="0">
                <a:solidFill>
                  <a:srgbClr val="1E293B"/>
                </a:solidFill>
                <a:latin typeface="Calibri"/>
              </a:defRPr>
            </a:pPr>
            <a:r>
              <a:t>一般認為，歐拉於1736年出版的關於柯尼斯堡七橋問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0" y="182880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  <a:latin typeface="Calibri Light"/>
              </a:defRPr>
              <a:buChar char="●"/>
            </a:pPr>
            <a:r>
              <a:t>此問題被推廣為著名的歐拉路問題，亦即一筆畫問題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  <a:latin typeface="Calibri Light"/>
              </a:defRPr>
              <a:buChar char="●"/>
            </a:pPr>
            <a:r>
              <a:t>而此論文與范德蒙的一篇關於騎士週遊問題的文章，則是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  <a:latin typeface="Calibri Light"/>
              </a:defRPr>
              <a:buChar char="●"/>
            </a:pPr>
            <a:r>
              <a:t>歐拉提出的關於凸多邊形頂點數、棱數及面數之間的關係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6 /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 i="0">
                <a:solidFill>
                  <a:srgbClr val="1E293B"/>
                </a:solidFill>
                <a:latin typeface="Calibri"/>
              </a:defRPr>
            </a:pPr>
            <a:r>
              <a:t>西爾維斯特於1878年發表在《自然》上的一篇論文中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63040"/>
            <a:ext cx="685800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" y="1828800"/>
            <a:ext cx="182880" cy="182880"/>
          </a:xfrm>
          <a:prstGeom prst="ellipse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1554480"/>
            <a:ext cx="5943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400" b="0" i="0">
                <a:solidFill>
                  <a:srgbClr val="1E293B"/>
                </a:solidFill>
                <a:latin typeface="Calibri Light"/>
              </a:defRPr>
            </a:pPr>
            <a:r>
              <a:t>要點 1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514600"/>
            <a:ext cx="685800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05840" y="2880360"/>
            <a:ext cx="182880" cy="182880"/>
          </a:xfrm>
          <a:prstGeom prst="ellipse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63040" y="2606040"/>
            <a:ext cx="5943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400" b="0" i="0">
                <a:solidFill>
                  <a:srgbClr val="1E293B"/>
                </a:solidFill>
                <a:latin typeface="Calibri Light"/>
              </a:defRPr>
            </a:pPr>
            <a:r>
              <a:t>要點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0" y="1463040"/>
            <a:ext cx="3474720" cy="438912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692640" y="3383280"/>
            <a:ext cx="548640" cy="54864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402336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  <a:defRPr sz="1000" b="0" i="0">
                <a:solidFill>
                  <a:srgbClr val="64748B"/>
                </a:solidFill>
                <a:latin typeface="Calibri Light"/>
              </a:defRPr>
            </a:pPr>
            <a:r>
              <a:t>professional business concept illustration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900" b="0" i="0">
                <a:solidFill>
                  <a:srgbClr val="64748B"/>
                </a:solidFill>
                <a:latin typeface="Calibri Light"/>
              </a:defRPr>
            </a:pPr>
            <a:r>
              <a:t>7 /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  <a:defRPr sz="3600" b="1" i="0">
                <a:solidFill>
                  <a:srgbClr val="FFFFFF"/>
                </a:solidFill>
                <a:latin typeface="Calibri"/>
              </a:defRPr>
            </a:pPr>
            <a:r>
              <a:t>結論與展望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0" y="2468880"/>
            <a:ext cx="2133295" cy="36576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0" y="2926080"/>
            <a:ext cx="76196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>
                <a:solidFill>
                  <a:srgbClr val="FFFFFF"/>
                </a:solidFill>
                <a:latin typeface="Calibri Light"/>
              </a:defRPr>
              <a:buChar char="●"/>
            </a:pPr>
            <a:r>
              <a:t>核心要點回顧</a:t>
            </a:r>
          </a:p>
          <a:p>
            <a:pPr>
              <a:spcAft>
                <a:spcPts val="1200"/>
              </a:spcAft>
              <a:defRPr sz="1600">
                <a:solidFill>
                  <a:srgbClr val="FFFFFF"/>
                </a:solidFill>
                <a:latin typeface="Calibri Light"/>
              </a:defRPr>
              <a:buChar char="●"/>
            </a:pPr>
            <a:r>
              <a:t>未來發展方向</a:t>
            </a:r>
          </a:p>
          <a:p>
            <a:pPr>
              <a:spcAft>
                <a:spcPts val="1200"/>
              </a:spcAft>
              <a:defRPr sz="1600">
                <a:solidFill>
                  <a:srgbClr val="FFFFFF"/>
                </a:solidFill>
                <a:latin typeface="Calibri Light"/>
              </a:defRPr>
              <a:buChar char="●"/>
            </a:pPr>
            <a:r>
              <a:t>下一步行動計畫</a:t>
            </a:r>
          </a:p>
          <a:p>
            <a:pPr>
              <a:spcAft>
                <a:spcPts val="1200"/>
              </a:spcAft>
              <a:defRPr sz="1600">
                <a:solidFill>
                  <a:srgbClr val="FFFFFF"/>
                </a:solidFill>
                <a:latin typeface="Calibri Light"/>
              </a:defRPr>
              <a:buChar char="●"/>
            </a:pPr>
            <a:r>
              <a:t>歡迎提問與討論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217920"/>
            <a:ext cx="12191695" cy="64008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626364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  <a:defRPr sz="1400" b="0" i="0">
                <a:solidFill>
                  <a:srgbClr val="CCFBF1"/>
                </a:solidFill>
                <a:latin typeface="Calibri Light"/>
              </a:defRPr>
            </a:pPr>
            <a: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