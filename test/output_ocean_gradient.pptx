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9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 type="title">
  <p:cSld name="TITLE">
    <p:bg>
      <p:bgPr>
        <a:solidFill>
          <a:srgbClr val="F3F3F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2396800"/>
            <a:ext cx="11360515" cy="1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3778833"/>
            <a:ext cx="11360515" cy="1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72720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02092" y="2618300"/>
            <a:ext cx="11318916" cy="6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386640" y="3474300"/>
            <a:ext cx="6918226" cy="7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589" y="1536633"/>
            <a:ext cx="7841803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Picture Placeholder 10"/>
          <p:cNvSpPr>
            <a:spLocks noGrp="1"/>
          </p:cNvSpPr>
          <p:nvPr>
            <p:ph type="pic" idx="10"/>
          </p:nvPr>
        </p:nvSpPr>
        <p:spPr>
          <a:xfrm>
            <a:off x="8569785" y="1536633"/>
            <a:ext cx="2930326" cy="47876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column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left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5427864" y="1611266"/>
            <a:ext cx="6273843" cy="4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Picture Placeholder 10"/>
          <p:cNvSpPr>
            <a:spLocks noGrp="1"/>
          </p:cNvSpPr>
          <p:nvPr>
            <p:ph type="pic" idx="10"/>
          </p:nvPr>
        </p:nvSpPr>
        <p:spPr>
          <a:xfrm>
            <a:off x="725048" y="1550866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_righ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51062" y="210400"/>
            <a:ext cx="11772105" cy="7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04128" y="1218000"/>
            <a:ext cx="6764630" cy="4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Picture Placeholder 10"/>
          <p:cNvSpPr>
            <a:spLocks noGrp="1"/>
          </p:cNvSpPr>
          <p:nvPr>
            <p:ph type="pic" idx="10"/>
          </p:nvPr>
        </p:nvSpPr>
        <p:spPr>
          <a:xfrm>
            <a:off x="7180087" y="1218000"/>
            <a:ext cx="4511487" cy="4874000"/>
          </a:xfrm>
          <a:prstGeom prst="rect">
            <a:avLst/>
          </a:prstGeo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_states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72590" y="303433"/>
            <a:ext cx="11419714" cy="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241660" y="1158100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237841" y="1148029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4" type="body"/>
          </p:nvPr>
        </p:nvSpPr>
        <p:spPr>
          <a:xfrm>
            <a:off x="8234060" y="1109533"/>
            <a:ext cx="3534711" cy="536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TITLE_AND_TWO_COLUMNS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15589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443038" y="1536633"/>
            <a:ext cx="5333066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71893" y="302100"/>
            <a:ext cx="11756105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73288" y="1148033"/>
            <a:ext cx="11419714" cy="5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6"/>
            <a:ext cx="11360515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51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28" y="6217622"/>
            <a:ext cx="731581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12191694" cy="13080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圖論（英語：Graph theory），是組合數學分支，和其...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圖是圖論的主要研究對象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圖是由若干給定的頂點及連接兩頂點的邊所構成的圖形，</a:t>
            </a:r>
          </a:p>
          <a:p>
            <a:r>
              <a:t>頂點用於代表事物，連接兩頂點的邊則用於表示兩個事物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圖論起源於著名的柯尼斯堡七橋問題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該問題於1736年被歐拉解決，因此普遍認為歐拉是圖</a:t>
            </a:r>
          </a:p>
          <a:p>
            <a:r>
              <a:t>要點 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圖論的研究對象相當於一維的單純複形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/>
              <a:t>方面二</a:t>
            </a:r>
          </a:p>
          <a:p>
            <a:r>
              <a:t>分析要點 C</a:t>
            </a:r>
          </a:p>
          <a:p>
            <a:r>
              <a:t>分析要點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歷史: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ctr"/>
            <a:r>
              <a:rPr b="1" sz="2800"/>
              <a:t>95%</a:t>
            </a:r>
          </a:p>
          <a:p>
            <a:pPr algn="ctr"/>
            <a:r>
              <a:rPr sz="1100"/>
              <a:t>達成率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ctr"/>
            <a:r>
              <a:rPr b="1" sz="2800"/>
              <a:t>3x</a:t>
            </a:r>
          </a:p>
          <a:p>
            <a:pPr algn="ctr"/>
            <a:r>
              <a:rPr sz="1100"/>
              <a:t>效率提升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algn="ctr"/>
            <a:r>
              <a:rPr b="1" sz="2800"/>
              <a:t>50+</a:t>
            </a:r>
          </a:p>
          <a:p>
            <a:pPr algn="ctr"/>
            <a:r>
              <a:rPr sz="1100"/>
              <a:t>應用場景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一般認為，歐拉於1736年出版的關於柯尼斯堡七橋問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此問題被推廣為著名的歐拉路問題，亦即一筆畫問題</a:t>
            </a:r>
          </a:p>
          <a:p>
            <a:r>
              <a:t>而此論文與范德蒙的一篇關於騎士週遊問題的文章，則是</a:t>
            </a:r>
          </a:p>
          <a:p>
            <a:r>
              <a:t>歐拉提出的關於凸多邊形頂點數、棱數及面數之間的關係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西爾維斯特於1878年發表在《自然》上的一篇論文中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要點 1</a:t>
            </a:r>
          </a:p>
          <a:p>
            <a:r>
              <a:t>要點 2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極簡白-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