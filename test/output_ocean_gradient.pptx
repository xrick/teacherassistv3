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9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slide" type="title">
  <p:cSld name="TITLE">
    <p:bg>
      <p:bgPr>
        <a:solidFill>
          <a:srgbClr val="F3F3F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415589" y="2396800"/>
            <a:ext cx="11360515" cy="127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15589" y="3778833"/>
            <a:ext cx="11360515" cy="105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0" y="6727200"/>
            <a:ext cx="12191694" cy="130800"/>
          </a:xfrm>
          <a:prstGeom prst="rect">
            <a:avLst/>
          </a:prstGeom>
          <a:solidFill>
            <a:srgbClr val="1B3A5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02092" y="2618300"/>
            <a:ext cx="11318916" cy="61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2386640" y="3474300"/>
            <a:ext cx="6918226" cy="70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ullets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415589" y="1536633"/>
            <a:ext cx="7841803" cy="48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3" name="Picture Placeholder 10"/>
          <p:cNvSpPr>
            <a:spLocks noGrp="1"/>
          </p:cNvSpPr>
          <p:nvPr>
            <p:ph type="pic" idx="10"/>
          </p:nvPr>
        </p:nvSpPr>
        <p:spPr>
          <a:xfrm>
            <a:off x="8569785" y="1536633"/>
            <a:ext cx="2930326" cy="4787600"/>
          </a:xfrm>
          <a:prstGeom prst="rect">
            <a:avLst/>
          </a:prstGeom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_column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415589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6443038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_left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33" name="Google Shape;33;p6"/>
          <p:cNvSpPr txBox="1"/>
          <p:nvPr>
            <p:ph idx="1" type="body"/>
          </p:nvPr>
        </p:nvSpPr>
        <p:spPr>
          <a:xfrm>
            <a:off x="5427864" y="1611266"/>
            <a:ext cx="6273843" cy="481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Picture Placeholder 10"/>
          <p:cNvSpPr>
            <a:spLocks noGrp="1"/>
          </p:cNvSpPr>
          <p:nvPr>
            <p:ph type="pic" idx="10"/>
          </p:nvPr>
        </p:nvSpPr>
        <p:spPr>
          <a:xfrm>
            <a:off x="725048" y="1550866"/>
            <a:ext cx="4511487" cy="4874000"/>
          </a:xfrm>
          <a:prstGeom prst="rect">
            <a:avLst/>
          </a:prstGeom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_righ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151062" y="210400"/>
            <a:ext cx="11772105" cy="79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204128" y="1218000"/>
            <a:ext cx="6764630" cy="48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7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38" name="Picture Placeholder 10"/>
          <p:cNvSpPr>
            <a:spLocks noGrp="1"/>
          </p:cNvSpPr>
          <p:nvPr>
            <p:ph type="pic" idx="10"/>
          </p:nvPr>
        </p:nvSpPr>
        <p:spPr>
          <a:xfrm>
            <a:off x="7180087" y="1218000"/>
            <a:ext cx="4511487" cy="4874000"/>
          </a:xfrm>
          <a:prstGeom prst="rect">
            <a:avLst/>
          </a:prstGeom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ey_states">
  <p:cSld name="CAPTION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idx="1" type="body"/>
          </p:nvPr>
        </p:nvSpPr>
        <p:spPr>
          <a:xfrm>
            <a:off x="372590" y="303433"/>
            <a:ext cx="11419714" cy="66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42" name="Google Shape;42;p8"/>
          <p:cNvSpPr txBox="1"/>
          <p:nvPr>
            <p:ph idx="2" type="body"/>
          </p:nvPr>
        </p:nvSpPr>
        <p:spPr>
          <a:xfrm>
            <a:off x="241660" y="1158100"/>
            <a:ext cx="3534711" cy="5367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3" name="Google Shape;43;p8"/>
          <p:cNvSpPr txBox="1"/>
          <p:nvPr>
            <p:ph idx="3" type="body"/>
          </p:nvPr>
        </p:nvSpPr>
        <p:spPr>
          <a:xfrm>
            <a:off x="4237841" y="1148029"/>
            <a:ext cx="3534711" cy="5367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4" type="body"/>
          </p:nvPr>
        </p:nvSpPr>
        <p:spPr>
          <a:xfrm>
            <a:off x="8234060" y="1109533"/>
            <a:ext cx="3534711" cy="5367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TITLE_AND_TWO_COLUMNS_1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7" name="Google Shape;47;p9"/>
          <p:cNvSpPr txBox="1"/>
          <p:nvPr>
            <p:ph idx="1" type="body"/>
          </p:nvPr>
        </p:nvSpPr>
        <p:spPr>
          <a:xfrm>
            <a:off x="415589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6443038" y="1536633"/>
            <a:ext cx="5333066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clusion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52" name="Google Shape;52;p10"/>
          <p:cNvSpPr txBox="1"/>
          <p:nvPr>
            <p:ph type="title"/>
          </p:nvPr>
        </p:nvSpPr>
        <p:spPr>
          <a:xfrm>
            <a:off x="271893" y="302100"/>
            <a:ext cx="11756105" cy="7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473288" y="1148033"/>
            <a:ext cx="11419714" cy="514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589" y="593366"/>
            <a:ext cx="11360515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589" y="1536633"/>
            <a:ext cx="11360515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328" y="6217622"/>
            <a:ext cx="731581" cy="52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12191694" cy="130800"/>
          </a:xfrm>
          <a:prstGeom prst="rect">
            <a:avLst/>
          </a:prstGeom>
          <a:solidFill>
            <a:srgbClr val="1B3A5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圖論（英語：Graph theory），是組合數學分支，和其...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自動生成簡報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圖是圖論的主要研究對象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圖是由若干給定的頂點及連接兩頂點的邊所構成的圖形，</a:t>
            </a:r>
          </a:p>
          <a:p>
            <a:r>
              <a:t>頂點用於代表事物，連接兩頂點的邊則用於表示兩個事物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圖論起源於著名的柯尼斯堡七橋問題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該問題於1736年被歐拉解決，因此普遍認為歐拉是圖</a:t>
            </a:r>
          </a:p>
          <a:p>
            <a:r>
              <a:t>要點 1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圖論的研究對象相當於一維的單純複形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方面一</a:t>
            </a:r>
          </a:p>
          <a:p>
            <a:r>
              <a:t>分析要點 A</a:t>
            </a:r>
          </a:p>
          <a:p>
            <a:r>
              <a:t>分析要點 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/>
              <a:t>方面二</a:t>
            </a:r>
          </a:p>
          <a:p>
            <a:r>
              <a:t>分析要點 C</a:t>
            </a:r>
          </a:p>
          <a:p>
            <a:r>
              <a:t>分析要點 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歷史: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ctr"/>
            <a:r>
              <a:rPr b="1" sz="2800"/>
              <a:t>95%</a:t>
            </a:r>
          </a:p>
          <a:p>
            <a:pPr algn="ctr"/>
            <a:r>
              <a:rPr sz="1100"/>
              <a:t>達成率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algn="ctr"/>
            <a:r>
              <a:rPr b="1" sz="2800"/>
              <a:t>3x</a:t>
            </a:r>
          </a:p>
          <a:p>
            <a:pPr algn="ctr"/>
            <a:r>
              <a:rPr sz="1100"/>
              <a:t>效率提升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 algn="ctr"/>
            <a:r>
              <a:rPr b="1" sz="2800"/>
              <a:t>50+</a:t>
            </a:r>
          </a:p>
          <a:p>
            <a:pPr algn="ctr"/>
            <a:r>
              <a:rPr sz="1100"/>
              <a:t>應用場景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一般認為，歐拉於1736年出版的關於柯尼斯堡七橋問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此問題被推廣為著名的歐拉路問題，亦即一筆畫問題</a:t>
            </a:r>
          </a:p>
          <a:p>
            <a:r>
              <a:t>而此論文與范德蒙的一篇關於騎士週遊問題的文章，則是</a:t>
            </a:r>
          </a:p>
          <a:p>
            <a:r>
              <a:t>歐拉提出的關於凸多邊形頂點數、棱數及面數之間的關係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西爾維斯特於1878年發表在《自然》上的一篇論文中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要點 1</a:t>
            </a:r>
          </a:p>
          <a:p>
            <a:r>
              <a:t>要點 2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結論與展望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核心要點回顧</a:t>
            </a:r>
          </a:p>
          <a:p>
            <a:r>
              <a:t>未來發展方向</a:t>
            </a:r>
          </a:p>
          <a:p>
            <a:r>
              <a:t>下一步行動計畫</a:t>
            </a:r>
          </a:p>
          <a:p>
            <a:r>
              <a:t>歡迎提問與討論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極簡白-Mast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