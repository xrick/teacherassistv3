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9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slide" type="title">
  <p:cSld name="TITLE">
    <p:bg>
      <p:bgPr>
        <a:solidFill>
          <a:srgbClr val="F3F3F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415589" y="2396800"/>
            <a:ext cx="11360515" cy="127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15589" y="3778833"/>
            <a:ext cx="11360515" cy="105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0" y="6727200"/>
            <a:ext cx="12191694" cy="130800"/>
          </a:xfrm>
          <a:prstGeom prst="rect">
            <a:avLst/>
          </a:prstGeom>
          <a:solidFill>
            <a:srgbClr val="1B3A5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02092" y="2618300"/>
            <a:ext cx="11318916" cy="61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2386640" y="3474300"/>
            <a:ext cx="6918226" cy="70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ullets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415589" y="1536633"/>
            <a:ext cx="7841803" cy="48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3" name="Picture Placeholder 10"/>
          <p:cNvSpPr>
            <a:spLocks noGrp="1"/>
          </p:cNvSpPr>
          <p:nvPr>
            <p:ph type="pic" idx="10"/>
          </p:nvPr>
        </p:nvSpPr>
        <p:spPr>
          <a:xfrm>
            <a:off x="8569785" y="1536633"/>
            <a:ext cx="2930326" cy="4787600"/>
          </a:xfrm>
          <a:prstGeom prst="rect">
            <a:avLst/>
          </a:prstGeom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_column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415589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6443038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_left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33" name="Google Shape;33;p6"/>
          <p:cNvSpPr txBox="1"/>
          <p:nvPr>
            <p:ph idx="1" type="body"/>
          </p:nvPr>
        </p:nvSpPr>
        <p:spPr>
          <a:xfrm>
            <a:off x="5427864" y="1611266"/>
            <a:ext cx="6273843" cy="481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Picture Placeholder 10"/>
          <p:cNvSpPr>
            <a:spLocks noGrp="1"/>
          </p:cNvSpPr>
          <p:nvPr>
            <p:ph type="pic" idx="10"/>
          </p:nvPr>
        </p:nvSpPr>
        <p:spPr>
          <a:xfrm>
            <a:off x="725048" y="1550866"/>
            <a:ext cx="4511487" cy="4874000"/>
          </a:xfrm>
          <a:prstGeom prst="rect">
            <a:avLst/>
          </a:prstGeom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_righ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151062" y="210400"/>
            <a:ext cx="11772105" cy="79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204128" y="1218000"/>
            <a:ext cx="6764630" cy="48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7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38" name="Picture Placeholder 10"/>
          <p:cNvSpPr>
            <a:spLocks noGrp="1"/>
          </p:cNvSpPr>
          <p:nvPr>
            <p:ph type="pic" idx="10"/>
          </p:nvPr>
        </p:nvSpPr>
        <p:spPr>
          <a:xfrm>
            <a:off x="7180087" y="1218000"/>
            <a:ext cx="4511487" cy="4874000"/>
          </a:xfrm>
          <a:prstGeom prst="rect">
            <a:avLst/>
          </a:prstGeom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ey_states">
  <p:cSld name="CAPTION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idx="1" type="body"/>
          </p:nvPr>
        </p:nvSpPr>
        <p:spPr>
          <a:xfrm>
            <a:off x="372590" y="303433"/>
            <a:ext cx="11419714" cy="66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42" name="Google Shape;42;p8"/>
          <p:cNvSpPr txBox="1"/>
          <p:nvPr>
            <p:ph idx="2" type="body"/>
          </p:nvPr>
        </p:nvSpPr>
        <p:spPr>
          <a:xfrm>
            <a:off x="241660" y="1158100"/>
            <a:ext cx="3534711" cy="5367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3" name="Google Shape;43;p8"/>
          <p:cNvSpPr txBox="1"/>
          <p:nvPr>
            <p:ph idx="3" type="body"/>
          </p:nvPr>
        </p:nvSpPr>
        <p:spPr>
          <a:xfrm>
            <a:off x="4237841" y="1148029"/>
            <a:ext cx="3534711" cy="5367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4" type="body"/>
          </p:nvPr>
        </p:nvSpPr>
        <p:spPr>
          <a:xfrm>
            <a:off x="8234060" y="1109533"/>
            <a:ext cx="3534711" cy="5367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TITLE_AND_TWO_COLUMNS_1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7" name="Google Shape;47;p9"/>
          <p:cNvSpPr txBox="1"/>
          <p:nvPr>
            <p:ph idx="1" type="body"/>
          </p:nvPr>
        </p:nvSpPr>
        <p:spPr>
          <a:xfrm>
            <a:off x="415589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6443038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clusion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52" name="Google Shape;52;p10"/>
          <p:cNvSpPr txBox="1"/>
          <p:nvPr>
            <p:ph type="title"/>
          </p:nvPr>
        </p:nvSpPr>
        <p:spPr>
          <a:xfrm>
            <a:off x="271893" y="302100"/>
            <a:ext cx="11756105" cy="7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473288" y="1148033"/>
            <a:ext cx="11419714" cy="514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589" y="1536633"/>
            <a:ext cx="11360515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12191694" cy="130800"/>
          </a:xfrm>
          <a:prstGeom prst="rect">
            <a:avLst/>
          </a:prstGeom>
          <a:solidFill>
            <a:srgbClr val="1B3A5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離散數學概論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從基礎到應用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核心概念與定義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離散數學的背景與重要性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離散數學研究離散結構，如整數、圖、集合。</a:t>
            </a:r>
          </a:p>
          <a:p>
            <a:r>
              <a:t>與連續數學區分，強調可計算性與可枚舉性。</a:t>
            </a:r>
          </a:p>
          <a:p>
            <a:r>
              <a:t>在計算機科學中描述離散運算與邏輯。</a:t>
            </a:r>
          </a:p>
          <a:p>
            <a:r>
              <a:t>促進跨領域研究，如資訊理論與組合設計。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實際應用案例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快速排序時間複雜度分析。</a:t>
            </a:r>
          </a:p>
          <a:p>
            <a:r>
              <a:t>PERT排程圖在項目管理。</a:t>
            </a:r>
          </a:p>
          <a:p>
            <a:r>
              <a:t>RSA加密基於數論與質數。</a:t>
            </a:r>
          </a:p>
          <a:p>
            <a:r>
              <a:t>影像壓縮利用離散傅立葉轉換。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常見挑戰與痛點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數學模型複雜度高，難以手算。</a:t>
            </a:r>
          </a:p>
          <a:p>
            <a:r>
              <a:t>資料量大時排列組合爆炸。</a:t>
            </a:r>
          </a:p>
          <a:p>
            <a:r>
              <a:t>資源分配問題多變數難優化。</a:t>
            </a:r>
          </a:p>
          <a:p>
            <a:r>
              <a:t>連續與離散混合模型需平衡。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解決方案與最佳實踐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使用遞迴與差分方程簡化計算。</a:t>
            </a:r>
          </a:p>
          <a:p>
            <a:r>
              <a:t>透過圖論求最短路徑與匹配。</a:t>
            </a:r>
          </a:p>
          <a:p>
            <a:r>
              <a:t>採用組合設計降低組合爆炸。</a:t>
            </a:r>
          </a:p>
          <a:p>
            <a:r>
              <a:t>交叉驗證理論與實驗提升可靠性。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量化數據與成效指標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ctr"/>
            <a:r>
              <a:rPr b="1" sz="2800"/>
              <a:t>80%</a:t>
            </a:r>
          </a:p>
          <a:p>
            <a:pPr algn="ctr"/>
            <a:r>
              <a:rPr sz="1100"/>
              <a:t>模型準確率提升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algn="ctr"/>
            <a:r>
              <a:rPr b="1" sz="2800"/>
              <a:t>50%</a:t>
            </a:r>
          </a:p>
          <a:p>
            <a:pPr algn="ctr"/>
            <a:r>
              <a:rPr sz="1100"/>
              <a:t>計算時間縮減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 algn="ctr"/>
            <a:r>
              <a:rPr b="1" sz="2800"/>
              <a:t>30%</a:t>
            </a:r>
          </a:p>
          <a:p>
            <a:pPr algn="ctr"/>
            <a:r>
              <a:rPr sz="1100"/>
              <a:t>資源利用率提升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未來趨勢與發展方向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極簡白-Mast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