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9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lide" type="title">
  <p:cSld name="TITLE">
    <p:bg>
      <p:bgPr>
        <a:solidFill>
          <a:srgbClr val="F3F3F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415589" y="2396800"/>
            <a:ext cx="11360515" cy="1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15589" y="3778833"/>
            <a:ext cx="11360515" cy="10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0" y="6727200"/>
            <a:ext cx="12191694" cy="13080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02092" y="2618300"/>
            <a:ext cx="11318916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386640" y="3474300"/>
            <a:ext cx="6918226" cy="7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15589" y="1536633"/>
            <a:ext cx="7841803" cy="48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" name="Picture Placeholder 10"/>
          <p:cNvSpPr>
            <a:spLocks noGrp="1"/>
          </p:cNvSpPr>
          <p:nvPr>
            <p:ph type="pic" idx="10"/>
          </p:nvPr>
        </p:nvSpPr>
        <p:spPr>
          <a:xfrm>
            <a:off x="8569785" y="1536633"/>
            <a:ext cx="2930326" cy="47876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column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589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3038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_left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5427864" y="1611266"/>
            <a:ext cx="6273843" cy="4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Picture Placeholder 10"/>
          <p:cNvSpPr>
            <a:spLocks noGrp="1"/>
          </p:cNvSpPr>
          <p:nvPr>
            <p:ph type="pic" idx="10"/>
          </p:nvPr>
        </p:nvSpPr>
        <p:spPr>
          <a:xfrm>
            <a:off x="725048" y="1550866"/>
            <a:ext cx="4511487" cy="48740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_righ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151062" y="210400"/>
            <a:ext cx="11772105" cy="7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204128" y="1218000"/>
            <a:ext cx="6764630" cy="48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" name="Picture Placeholder 10"/>
          <p:cNvSpPr>
            <a:spLocks noGrp="1"/>
          </p:cNvSpPr>
          <p:nvPr>
            <p:ph type="pic" idx="10"/>
          </p:nvPr>
        </p:nvSpPr>
        <p:spPr>
          <a:xfrm>
            <a:off x="7180087" y="1218000"/>
            <a:ext cx="4511487" cy="48740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_states">
  <p:cSld name="CAPTION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idx="1" type="body"/>
          </p:nvPr>
        </p:nvSpPr>
        <p:spPr>
          <a:xfrm>
            <a:off x="372590" y="303433"/>
            <a:ext cx="11419714" cy="66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241660" y="1158100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3" type="body"/>
          </p:nvPr>
        </p:nvSpPr>
        <p:spPr>
          <a:xfrm>
            <a:off x="4237841" y="1148029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4" type="body"/>
          </p:nvPr>
        </p:nvSpPr>
        <p:spPr>
          <a:xfrm>
            <a:off x="8234060" y="1109533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TITLE_AND_TWO_COLUMNS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415589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443038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271893" y="302100"/>
            <a:ext cx="11756105" cy="7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473288" y="1148033"/>
            <a:ext cx="11419714" cy="51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589" y="1536633"/>
            <a:ext cx="11360515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12191694" cy="13080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離散數學概論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從基礎到實務應用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核心概念與定義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離散數學的核心概念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離散結構涵蓋整數、圖、邏輯與集合等離散對象。</a:t>
            </a:r>
          </a:p>
          <a:p>
            <a:r>
              <a:t>與連續數學區分，避免微分、積分等連續運算。</a:t>
            </a:r>
          </a:p>
          <a:p>
            <a:r>
              <a:t>交叉學科包括資訊理論、組合數學、圖論與抽象代數。</a:t>
            </a:r>
          </a:p>
          <a:p>
            <a:r>
              <a:t>研究方法以遞迴、組合計數與邏輯推理為主。</a:t>
            </a:r>
          </a:p>
          <a:p>
            <a:r>
              <a:t>目標是建立離散模型以支援計算與理論分析。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背景脈絡與重要性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 世紀初數學家開始系統化研究離散結構。</a:t>
            </a:r>
          </a:p>
          <a:p>
            <a:r>
              <a:t>現代電腦科學的核心：算法、複雜度與可計算性。</a:t>
            </a:r>
          </a:p>
          <a:p>
            <a:r>
              <a:t>密碼學、網路設計與資料庫等領域依賴離散數學。</a:t>
            </a:r>
          </a:p>
          <a:p>
            <a:r>
              <a:t>離散數學是計算機科學課程的基礎教學內容。</a:t>
            </a:r>
          </a:p>
          <a:p>
            <a:r>
              <a:t>離散化技術推動數值分析與模擬的進步。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實際應用案例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圖論解七橋問題與網路路徑優化。</a:t>
            </a:r>
          </a:p>
          <a:p>
            <a:r>
              <a:t>組合數學設計實驗室排程與PERT圖。</a:t>
            </a:r>
          </a:p>
          <a:p>
            <a:r>
              <a:t>數論在 RSA 加密與質數測試。</a:t>
            </a:r>
          </a:p>
          <a:p>
            <a:r>
              <a:t>資訊理論設計高效編碼與錯誤檢測。</a:t>
            </a:r>
          </a:p>
          <a:p>
            <a:r>
              <a:t>理論電腦科學中的複雜度分析與自動機。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挑戰與對策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挑戰：離散模型複雜度高，計算資源需求大。</a:t>
            </a:r>
          </a:p>
          <a:p>
            <a:r>
              <a:t>挑戰：實務資料不完整，模型假設難以驗證。</a:t>
            </a:r>
          </a:p>
          <a:p>
            <a:r>
              <a:t>挑戰：跨領域溝通障礙，專業術語不易共識。</a:t>
            </a:r>
          </a:p>
          <a:p>
            <a:r>
              <a:t>對策：採用分層抽象與模組化設計，降低複雜度。</a:t>
            </a:r>
          </a:p>
          <a:p>
            <a:r>
              <a:t>對策：結合機器學習提升資料預測與驗證效率。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量化數據與成效指標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ctr"/>
            <a:r>
              <a:rPr b="1" sz="2800"/>
              <a:t>85%</a:t>
            </a:r>
          </a:p>
          <a:p>
            <a:pPr algn="ctr"/>
            <a:r>
              <a:rPr sz="1100"/>
              <a:t>課程滿意度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ctr"/>
            <a:r>
              <a:rPr b="1" sz="2800"/>
              <a:t>30%</a:t>
            </a:r>
          </a:p>
          <a:p>
            <a:pPr algn="ctr"/>
            <a:r>
              <a:rPr sz="1100"/>
              <a:t>計算時間減少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 algn="ctr"/>
            <a:r>
              <a:rPr b="1" sz="2800"/>
              <a:t>25%</a:t>
            </a:r>
          </a:p>
          <a:p>
            <a:pPr algn="ctr"/>
            <a:r>
              <a:rPr sz="1100"/>
              <a:t>錯誤率降低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未來趨勢與結語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趨勢：離散數學將與人工智慧結合，推動自動化設計。</a:t>
            </a:r>
          </a:p>
          <a:p>
            <a:r>
              <a:t>趨勢：量子計算興起，離散模型成為核心工具。</a:t>
            </a:r>
          </a:p>
          <a:p>
            <a:r>
              <a:t>趨勢：雲端與大數據平台將離散化技術納入服務。</a:t>
            </a:r>
          </a:p>
          <a:p>
            <a:r>
              <a:t>結語：離散數學不僅是理論基礎，更是創新與實務推動的關鍵。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極簡白-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