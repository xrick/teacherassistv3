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54864" cy="3474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828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離散數學：基礎、應用與未來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 i="0">
                <a:solidFill>
                  <a:srgbClr val="02C39A"/>
                </a:solidFill>
                <a:latin typeface="Calibri Light"/>
              </a:defRPr>
            </a:pPr>
            <a:r>
              <a:t>從理論到實務的全景概覽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離散數學概覽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657600"/>
            <a:ext cx="2133295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  <a:r>
              <a:t>核心概念與定義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82880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離散數學專注於離散結構，如整數、圖形與集合，而非連續變量。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1460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88036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60604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其主要工具包括邏輯語言、組合計數與圖論模型。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393192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365760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研究成果常以證明與算法形式呈現，強調可證性與可執行性。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463040"/>
            <a:ext cx="3474720" cy="4389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92640" y="3383280"/>
            <a:ext cx="548640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023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64748B"/>
                </a:solidFill>
                <a:latin typeface="Calibri Light"/>
              </a:defRPr>
            </a:pPr>
            <a:r>
              <a:t>A professional business illustration depicting discrete structures such as graphs and sets against a clean background, highlighting the contrast between discrete and continuous concepts.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背景脈絡與重要性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657600"/>
            <a:ext cx="2133295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  <a:r>
              <a:t>背景與重要性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82880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離散結構是計算機硬體與軟體的基礎，影響處理速度與資源管理。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1460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88036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60604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演算法設計依賴組合數學與圖論，以提升效率與可擴展性。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393192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365760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形式驗證與安全性分析使用邏輯語言確保系統可靠性。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463040"/>
            <a:ext cx="3474720" cy="4389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92640" y="3383280"/>
            <a:ext cx="548640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023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64748B"/>
                </a:solidFill>
                <a:latin typeface="Calibri Light"/>
              </a:defRPr>
            </a:pPr>
            <a:r>
              <a:t>A high‑quality business photo of a server rack and code on a monitor, symbolizing the intersection of discrete mathematics and computing infrastructure.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實際應用案例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657600"/>
            <a:ext cx="2133295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  <a:r>
              <a:t>典型應用情境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82880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圖論在網路路由與社交網絡分析中優化路徑選擇。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1460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88036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60604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組合數學在排程與資源分配問題中提供最優解。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393192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365760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邏輯與形式語言在硬體驗證與程式安全中確保正確性。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61772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498348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4709159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資訊理論與離散編碼在資料壓縮與錯誤檢測中提升傳輸效率。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463040"/>
            <a:ext cx="3474720" cy="4389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92640" y="3383280"/>
            <a:ext cx="548640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4023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64748B"/>
                </a:solidFill>
                <a:latin typeface="Calibri Light"/>
              </a:defRPr>
            </a:pPr>
            <a:r>
              <a:t>An artistic representation of network nodes connected by lines, overlaid with scheduling charts and code snippets, illustrating diverse applications of discrete mathematics.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  <a:r>
              <a:t>挑戰與解決方案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4864" cy="4389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理論複雜度高，導致實務實現困難。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資料量快速增長，傳統算法難以維持效能。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跨領域溝通障礙，影響知識轉移。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339535" y="1645920"/>
            <a:ext cx="512064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39535" y="1645920"/>
            <a:ext cx="54864" cy="43891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05295" y="246888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採用可證明的演算法設計與自動化工具。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結合機器學習與分布式計算提升可擴展性。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 Light"/>
              </a:defRPr>
              <a:buChar char="●"/>
            </a:pPr>
            <a:r>
              <a:t>建立跨學科工作坊與標準化語言促進合作。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  <a:r>
              <a:t>量化指標與成效</a:t>
            </a:r>
          </a:p>
        </p:txBody>
      </p:sp>
      <p:sp>
        <p:nvSpPr>
          <p:cNvPr id="4" name="Rectangle 3"/>
          <p:cNvSpPr/>
          <p:nvPr/>
        </p:nvSpPr>
        <p:spPr>
          <a:xfrm>
            <a:off x="2986887" y="2011680"/>
            <a:ext cx="29260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86887" y="2011680"/>
            <a:ext cx="292608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129887" y="2377440"/>
            <a:ext cx="640080" cy="640080"/>
          </a:xfrm>
          <a:prstGeom prst="ellipse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86887" y="32004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065A82"/>
                </a:solidFill>
                <a:latin typeface="Calibri"/>
              </a:defRPr>
            </a:pPr>
            <a:r>
              <a:t>約 70%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86887" y="42062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0" i="0">
                <a:solidFill>
                  <a:srgbClr val="64748B"/>
                </a:solidFill>
                <a:latin typeface="Calibri Light"/>
              </a:defRPr>
            </a:pPr>
            <a:r>
              <a:t>離散演算法在核心系統效能提升中的貢獻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8727" y="2011680"/>
            <a:ext cx="29260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78727" y="2011680"/>
            <a:ext cx="292608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21727" y="2377440"/>
            <a:ext cx="640080" cy="640080"/>
          </a:xfrm>
          <a:prstGeom prst="ellipse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32004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065A82"/>
                </a:solidFill>
                <a:latin typeface="Calibri"/>
              </a:defRPr>
            </a:pPr>
            <a:r>
              <a:t>約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42062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0" i="0">
                <a:solidFill>
                  <a:srgbClr val="64748B"/>
                </a:solidFill>
                <a:latin typeface="Calibri Light"/>
              </a:defRPr>
            </a:pPr>
            <a:r>
              <a:t>離散方法在安全驗證流程中的應用比例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54864" cy="3474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828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結論與展望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